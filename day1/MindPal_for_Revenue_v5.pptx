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70" r:id="rId21"/>
    <p:sldId id="260" r:id="rId6"/>
    <p:sldId id="261" r:id="rId7"/>
    <p:sldId id="262" r:id="rId8"/>
    <p:sldId id="263" r:id="rId9"/>
    <p:sldId id="264" r:id="rId10"/>
    <p:sldId id="265" r:id="rId11"/>
    <p:sldId id="269" r:id="rId20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1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120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3108960"/>
            <a:ext cx="5852160" cy="585216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3291840" y="3931920"/>
            <a:ext cx="6035040" cy="603504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FOR THE REVENUE ORGANIZATION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your SDR org into an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AI-augmented growth engine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9418320" cy="1005840"/>
          </a:xfrm>
          <a:prstGeom prst="roundRect">
            <a:avLst>
              <a:gd name="adj" fmla="val 9091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MindPal's multi-agent workforce cuts research time by 90%+, drops lead response under 5 minutes, and reclaims ~$700K/year in selling capacity — with a human approving every outbound message.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5257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VP Sales / Chief Revenue Officer   |   Sales &amp; Revenue Operations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577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3108960"/>
            <a:ext cx="5852160" cy="585216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reps aren't selling.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They're doing data entry.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280920"/>
            <a:ext cx="3422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731520" y="3195320"/>
            <a:ext cx="3148584" cy="0"/>
          </a:xfrm>
          <a:prstGeom prst="line">
            <a:avLst/>
          </a:prstGeom>
          <a:noFill/>
          <a:ln w="12700">
            <a:solidFill>
              <a:srgbClr val="E3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378200"/>
            <a:ext cx="34229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rep's time goes to non-selling work — writing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data entry, admin and internal meetings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658360"/>
            <a:ext cx="3422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State of Sales 2026 (n=4,050 reps)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3024" y="2280920"/>
            <a:ext cx="3422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4600" dirty="0"/>
          </a:p>
        </p:txBody>
      </p:sp>
      <p:sp>
        <p:nvSpPr>
          <p:cNvPr id="13" name="Shape 11"/>
          <p:cNvSpPr/>
          <p:nvPr/>
        </p:nvSpPr>
        <p:spPr>
          <a:xfrm>
            <a:off x="4383024" y="3195320"/>
            <a:ext cx="3148584" cy="0"/>
          </a:xfrm>
          <a:prstGeom prst="line">
            <a:avLst/>
          </a:prstGeom>
          <a:noFill/>
          <a:ln w="12700">
            <a:solidFill>
              <a:srgbClr val="E3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3024" y="3378200"/>
            <a:ext cx="34229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 SDR's time specifically goes to researching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and sourcing contact info before ever reaching out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3024" y="4658360"/>
            <a:ext cx="3422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Sopro, State of Prospecting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34528" y="2280920"/>
            <a:ext cx="3422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hrs</a:t>
            </a:r>
            <a:endParaRPr lang="en-US" sz="4600" dirty="0"/>
          </a:p>
        </p:txBody>
      </p:sp>
      <p:sp>
        <p:nvSpPr>
          <p:cNvPr id="17" name="Shape 15"/>
          <p:cNvSpPr/>
          <p:nvPr/>
        </p:nvSpPr>
        <p:spPr>
          <a:xfrm>
            <a:off x="8034528" y="3195320"/>
            <a:ext cx="3148584" cy="0"/>
          </a:xfrm>
          <a:prstGeom prst="line">
            <a:avLst/>
          </a:prstGeom>
          <a:noFill/>
          <a:ln w="12700">
            <a:solidFill>
              <a:srgbClr val="E3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34528" y="3378200"/>
            <a:ext cx="34229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B2B companies take to respond to a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— and that's only among the 36% who ever reply at all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34528" y="4658360"/>
            <a:ext cx="3422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RevenueHero, 2024: 1,000 live demo requests tested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566928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your best-comped, highest-potential people are spending 6 of every 10 working hours on tasks that require zero judgment — nearly a third of it just hunting for who to contact — and 64% of B2B companies never respond to an inbound lead at all.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120640" cy="512064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 is what that's costing a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50-rep SDR organization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5225796" cy="3566160"/>
          </a:xfrm>
          <a:prstGeom prst="roundRect">
            <a:avLst>
              <a:gd name="adj" fmla="val 3077"/>
            </a:avLst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514600"/>
            <a:ext cx="45857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BURNED ON RESEARCH &amp; ADMIN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051560" y="2834640"/>
            <a:ext cx="45857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$1.4M / year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51560" y="3611880"/>
            <a:ext cx="45857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SDRs × $100K fully-loaded cost (Bridge Group 2025 SDR Metrics Report) × 28% of time spent specifically on researching targets and sourcing contacts (Sopro).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4480560"/>
            <a:ext cx="4585716" cy="0"/>
          </a:xfrm>
          <a:prstGeom prst="line">
            <a:avLst/>
          </a:prstGeom>
          <a:noFill/>
          <a:ln w="12700">
            <a:solidFill>
              <a:srgbClr val="3A3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4617720"/>
            <a:ext cx="45857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equivalent of 14 full-time reps doing lookup work instead of building pipeline.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31636" y="2286000"/>
            <a:ext cx="52257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LEAK: SPEED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1636" y="269748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1636" y="26974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21x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603236" y="2697480"/>
            <a:ext cx="38541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qualify a lead if contacted within 5 min vs. 30 min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1636" y="3520440"/>
            <a:ext cx="52257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BY RESPONSE SPEED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31636" y="3822192"/>
            <a:ext cx="43113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43032" y="38221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31636" y="4114800"/>
            <a:ext cx="5225796" cy="0"/>
          </a:xfrm>
          <a:prstGeom prst="line">
            <a:avLst/>
          </a:prstGeom>
          <a:noFill/>
          <a:ln w="9525">
            <a:solidFill>
              <a:srgbClr val="EC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31636" y="4151376"/>
            <a:ext cx="43113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5–30 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43032" y="415137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31636" y="4443984"/>
            <a:ext cx="5225796" cy="0"/>
          </a:xfrm>
          <a:prstGeom prst="line">
            <a:avLst/>
          </a:prstGeom>
          <a:noFill/>
          <a:ln w="9525">
            <a:solidFill>
              <a:srgbClr val="EC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31636" y="4480560"/>
            <a:ext cx="43113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min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43032" y="4480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31636" y="4773168"/>
            <a:ext cx="5225796" cy="0"/>
          </a:xfrm>
          <a:prstGeom prst="line">
            <a:avLst/>
          </a:prstGeom>
          <a:noFill/>
          <a:ln w="9525">
            <a:solidFill>
              <a:srgbClr val="EC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31636" y="4809744"/>
            <a:ext cx="43113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1–24 hours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43032" y="48097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31636" y="5102352"/>
            <a:ext cx="5225796" cy="0"/>
          </a:xfrm>
          <a:prstGeom prst="line">
            <a:avLst/>
          </a:prstGeom>
          <a:noFill/>
          <a:ln w="9525">
            <a:solidFill>
              <a:srgbClr val="EC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31636" y="5138928"/>
            <a:ext cx="43113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 hours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43032" y="51389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31636" y="5431536"/>
            <a:ext cx="5225796" cy="0"/>
          </a:xfrm>
          <a:prstGeom prst="line">
            <a:avLst/>
          </a:prstGeom>
          <a:noFill/>
          <a:ln w="9525">
            <a:solidFill>
              <a:srgbClr val="ECEC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31636" y="5541264"/>
            <a:ext cx="52257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Lead Response Mgmt. study (Oldroyd et al., MIT/InsideSales); 2026 Speed-to-Lead Benchmark, ArtemisGTM (15M sales interactions analyzed); Sopro State of Prospecting</a:t>
            </a:r>
            <a:endParaRPr lang="en-US" sz="850" dirty="0"/>
          </a:p>
        </p:txBody>
      </p:sp>
      <p:sp>
        <p:nvSpPr>
          <p:cNvPr id="35" name="Rounded Rectangle 34"/>
          <p:cNvSpPr/>
          <p:nvPr/>
        </p:nvSpPr>
        <p:spPr>
          <a:xfrm>
            <a:off x="7635240" y="3897629"/>
            <a:ext cx="2788920" cy="141732"/>
          </a:xfrm>
          <a:prstGeom prst="roundRect">
            <a:avLst>
              <a:gd name="adj" fmla="val 50000"/>
            </a:avLst>
          </a:prstGeom>
          <a:solidFill>
            <a:srgbClr val="E7E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35240" y="3897629"/>
            <a:ext cx="2788920" cy="141732"/>
          </a:xfrm>
          <a:prstGeom prst="roundRect">
            <a:avLst>
              <a:gd name="adj" fmla="val 50000"/>
            </a:avLst>
          </a:prstGeom>
          <a:solidFill>
            <a:srgbClr val="2F2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35240" y="4226814"/>
            <a:ext cx="2788920" cy="141732"/>
          </a:xfrm>
          <a:prstGeom prst="roundRect">
            <a:avLst>
              <a:gd name="adj" fmla="val 50000"/>
            </a:avLst>
          </a:prstGeom>
          <a:solidFill>
            <a:srgbClr val="E7E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35240" y="4226814"/>
            <a:ext cx="1726474" cy="141732"/>
          </a:xfrm>
          <a:prstGeom prst="roundRect">
            <a:avLst>
              <a:gd name="adj" fmla="val 50000"/>
            </a:avLst>
          </a:prstGeom>
          <a:solidFill>
            <a:srgbClr val="2F2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35240" y="4555998"/>
            <a:ext cx="2788920" cy="141732"/>
          </a:xfrm>
          <a:prstGeom prst="roundRect">
            <a:avLst>
              <a:gd name="adj" fmla="val 50000"/>
            </a:avLst>
          </a:prstGeom>
          <a:solidFill>
            <a:srgbClr val="E7E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635240" y="4555998"/>
            <a:ext cx="1062445" cy="141732"/>
          </a:xfrm>
          <a:prstGeom prst="roundRect">
            <a:avLst>
              <a:gd name="adj" fmla="val 50000"/>
            </a:avLst>
          </a:prstGeom>
          <a:solidFill>
            <a:srgbClr val="2F2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635240" y="4885181"/>
            <a:ext cx="2788920" cy="141732"/>
          </a:xfrm>
          <a:prstGeom prst="roundRect">
            <a:avLst>
              <a:gd name="adj" fmla="val 50000"/>
            </a:avLst>
          </a:prstGeom>
          <a:solidFill>
            <a:srgbClr val="E7E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635240" y="4885181"/>
            <a:ext cx="664028" cy="141732"/>
          </a:xfrm>
          <a:prstGeom prst="roundRect">
            <a:avLst>
              <a:gd name="adj" fmla="val 50000"/>
            </a:avLst>
          </a:prstGeom>
          <a:solidFill>
            <a:srgbClr val="2F2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635240" y="5214366"/>
            <a:ext cx="2788920" cy="141732"/>
          </a:xfrm>
          <a:prstGeom prst="roundRect">
            <a:avLst>
              <a:gd name="adj" fmla="val 50000"/>
            </a:avLst>
          </a:prstGeom>
          <a:solidFill>
            <a:srgbClr val="E7E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35240" y="5214366"/>
            <a:ext cx="305453" cy="141732"/>
          </a:xfrm>
          <a:prstGeom prst="roundRect">
            <a:avLst>
              <a:gd name="adj" fmla="val 50000"/>
            </a:avLst>
          </a:prstGeom>
          <a:solidFill>
            <a:srgbClr val="2F2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-3474720"/>
            <a:ext cx="5669280" cy="566928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MindPal: a coordinated team of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agents, not another chatbot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is a self-serve, no-code platform: you (or your RevOps team) build the agents and connect the workflow yourselves — either by dragging nodes manually, or describing the process to Mindie, MindPal's AI workflow assistant, in plain language.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502920" cy="50292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417320" y="2651760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3044952"/>
            <a:ext cx="44942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one job — research, scoring, drafting — trained on your ICP, playbooks and brand voice via System Instructions and Knowledge Sources.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7356" y="2697480"/>
            <a:ext cx="502920" cy="50292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7356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6963156" y="2651760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Workflows, Not One-Offs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63156" y="3044952"/>
            <a:ext cx="44942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 off work like an assembly line: Router, Loop and Orchestrator-Worker nodes replicate your actual sales process.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1417320" y="4389120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782312"/>
            <a:ext cx="44942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Input Node pauses the workflow for a rep to review, edit or approve before anything ships — nothing sends unsupervised.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77356" y="4434840"/>
            <a:ext cx="502920" cy="50292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77356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6963156" y="4389120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Plugs Into Your Stack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63156" y="4782312"/>
            <a:ext cx="44942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your CRM and inbox via Composio (100+ apps incl. HubSpot) and MCP (Beta) — no rip-and-replace.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91840" y="3931920"/>
            <a:ext cx="6035040" cy="603504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— RESEARCH &amp; QUALIFICATION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 &amp; Qualification Agent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5225796" cy="1051560"/>
          </a:xfrm>
          <a:prstGeom prst="roundRect">
            <a:avLst>
              <a:gd name="adj" fmla="val 8696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2212848"/>
            <a:ext cx="48600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spends 15-20 min per account on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research before the first touch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31636" y="1828800"/>
            <a:ext cx="5225796" cy="1051560"/>
          </a:xfrm>
          <a:prstGeom prst="roundRect">
            <a:avLst>
              <a:gd name="adj" fmla="val 8696"/>
            </a:avLst>
          </a:prstGeom>
          <a:solidFill>
            <a:srgbClr val="E6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60236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MINDPAL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60236" y="2212848"/>
            <a:ext cx="48600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 builds a full account brief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under a minute — SDR just reviews 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WORKFLOW RUNS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92" dirty="0"/>
          </a:p>
        </p:txBody>
      </p:sp>
      <p:sp>
        <p:nvSpPr>
          <p:cNvPr id="17" name="Text 15"/>
          <p:cNvSpPr/>
          <p:nvPr/>
        </p:nvSpPr>
        <p:spPr>
          <a:xfrm>
            <a:off x="1280160" y="3465576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 pulls firmographics, tech stack, funding/news signals and prior CRM history the moment a target account is queued.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142232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142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92" dirty="0"/>
          </a:p>
        </p:txBody>
      </p:sp>
      <p:sp>
        <p:nvSpPr>
          <p:cNvPr id="20" name="Text 18"/>
          <p:cNvSpPr/>
          <p:nvPr/>
        </p:nvSpPr>
        <p:spPr>
          <a:xfrm>
            <a:off x="1280160" y="4087368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Agent scores fit against your ICP and buying-signal rules, filtering out accounts that will never convert.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764024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764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1280160" y="4709160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Input Node hands the SDR a one-page brief and a recommended angle — the rep decides, the agent never sends anything alone.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385816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5385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92" dirty="0"/>
          </a:p>
        </p:txBody>
      </p:sp>
      <p:sp>
        <p:nvSpPr>
          <p:cNvPr id="26" name="Text 24"/>
          <p:cNvSpPr/>
          <p:nvPr/>
        </p:nvSpPr>
        <p:spPr>
          <a:xfrm>
            <a:off x="1280160" y="5330952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accounts route automatically into the rep's queue in CRM, fully enriched — zero manual data entry.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3108960"/>
            <a:ext cx="5852160" cy="585216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 — SPEED-TO-LEAD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Speed-to-Lead Response Agent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5225796" cy="1051560"/>
          </a:xfrm>
          <a:prstGeom prst="roundRect">
            <a:avLst>
              <a:gd name="adj" fmla="val 8696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2212848"/>
            <a:ext cx="48600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inbound lead waits 29 hours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first human response — if one ever comes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31636" y="1828800"/>
            <a:ext cx="5225796" cy="1051560"/>
          </a:xfrm>
          <a:prstGeom prst="roundRect">
            <a:avLst>
              <a:gd name="adj" fmla="val 8696"/>
            </a:avLst>
          </a:prstGeom>
          <a:solidFill>
            <a:srgbClr val="E6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60236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MINDPAL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60236" y="2212848"/>
            <a:ext cx="48600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personalized response goes out in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 minutes, 24/7 — rep is looped in live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WORKFLOW RUNS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92" dirty="0"/>
          </a:p>
        </p:txBody>
      </p:sp>
      <p:sp>
        <p:nvSpPr>
          <p:cNvPr id="17" name="Text 15"/>
          <p:cNvSpPr/>
          <p:nvPr/>
        </p:nvSpPr>
        <p:spPr>
          <a:xfrm>
            <a:off x="1280160" y="3465576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lead fills a form or replies to an email, the Response Agent drafts a personalized reply using the account's context and intent signal.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142232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142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92" dirty="0"/>
          </a:p>
        </p:txBody>
      </p:sp>
      <p:sp>
        <p:nvSpPr>
          <p:cNvPr id="20" name="Text 18"/>
          <p:cNvSpPr/>
          <p:nvPr/>
        </p:nvSpPr>
        <p:spPr>
          <a:xfrm>
            <a:off x="1280160" y="4087368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Node classifies urgency: high-intent leads get an instant escalation ping to the assigned rep's phone.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764024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764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1280160" y="4709160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Input Node: for anything outside pre-approved templates, a rep approves or edits before it sends — speed without losing control.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385816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5385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92" dirty="0"/>
          </a:p>
        </p:txBody>
      </p:sp>
      <p:sp>
        <p:nvSpPr>
          <p:cNvPr id="26" name="Text 24"/>
          <p:cNvSpPr/>
          <p:nvPr/>
        </p:nvSpPr>
        <p:spPr>
          <a:xfrm>
            <a:off x="1280160" y="5330952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After-hours and weekend leads get covered automatically instead of sitting in a queue until Monday.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120640" cy="512064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 — DEAL DESK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Quote-to-Proposal Agent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5225796" cy="1051560"/>
          </a:xfrm>
          <a:prstGeom prst="roundRect">
            <a:avLst>
              <a:gd name="adj" fmla="val 8696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2212848"/>
            <a:ext cx="48600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spends 2-4 hours assembling a custom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quote, proposal and redline-ready contract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31636" y="1828800"/>
            <a:ext cx="5225796" cy="1051560"/>
          </a:xfrm>
          <a:prstGeom prst="roundRect">
            <a:avLst>
              <a:gd name="adj" fmla="val 8696"/>
            </a:avLst>
          </a:prstGeom>
          <a:solidFill>
            <a:srgbClr val="E6F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60236" y="1938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MINDPAL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60236" y="2212848"/>
            <a:ext cx="48600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proposal, pricing and first-pass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25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markup ready in minutes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WORKFLOW RUNS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92" dirty="0"/>
          </a:p>
        </p:txBody>
      </p:sp>
      <p:sp>
        <p:nvSpPr>
          <p:cNvPr id="17" name="Text 15"/>
          <p:cNvSpPr/>
          <p:nvPr/>
        </p:nvSpPr>
        <p:spPr>
          <a:xfrm>
            <a:off x="1280160" y="3465576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Orchestrator-Worker workflow pulls deal terms from CRM, pricing rules from your rate card, and past win/loss data for similar deals.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142232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142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92" dirty="0"/>
          </a:p>
        </p:txBody>
      </p:sp>
      <p:sp>
        <p:nvSpPr>
          <p:cNvPr id="20" name="Text 18"/>
          <p:cNvSpPr/>
          <p:nvPr/>
        </p:nvSpPr>
        <p:spPr>
          <a:xfrm>
            <a:off x="1280160" y="4087368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draft the proposal narrative, build the pricing table, and flag any non-standard contract clauses for legal review.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764024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764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1280160" y="4709160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Input Node: Deal Desk or AE reviews and approves before anything reaches the customer — agents draft, humans decide.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385816"/>
            <a:ext cx="384048" cy="384048"/>
          </a:xfrm>
          <a:prstGeom prst="ellipse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5385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92" dirty="0"/>
          </a:p>
        </p:txBody>
      </p:sp>
      <p:sp>
        <p:nvSpPr>
          <p:cNvPr id="26" name="Text 24"/>
          <p:cNvSpPr/>
          <p:nvPr/>
        </p:nvSpPr>
        <p:spPr>
          <a:xfrm>
            <a:off x="1280160" y="5330952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for a standard proposal drops from days to same-day, directly shortening your sales cycle.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3108960"/>
            <a:ext cx="5852160" cy="585216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VALUE, QUANTIFIED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80467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redeployed. Revenue unlocked. Speed gained.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31520" y="15036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formula is shown in full — swap in your own headcount, pipeline and close rate. Bold rates are sourced (slides 2–3); reclaim/uplift assumptions are marked as estimates for you to pressure-test. Capacity and revenue are two separate mechanisms — deliberately not added together.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3422904" cy="3840480"/>
          </a:xfrm>
          <a:prstGeom prst="roundRect">
            <a:avLst>
              <a:gd name="adj" fmla="val 3740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" y="2331720"/>
            <a:ext cx="291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REDEPLOYED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87552" y="2606040"/>
            <a:ext cx="2910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~$700K / yr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87552" y="3337560"/>
            <a:ext cx="2910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≈14 FTE-equivalent of selling time for a 50-rep org — not a headcount cut.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87552" y="3913632"/>
            <a:ext cx="291084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33856" y="4041648"/>
            <a:ext cx="2618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33856" y="4279392"/>
            <a:ext cx="261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× $100K × 28% × 50%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33856" y="4754880"/>
            <a:ext cx="2618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× fully-loaded cost/rep (Bridge Group) × research-time share (Sopro) × est. reclaim rate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3024" y="2148840"/>
            <a:ext cx="3422904" cy="3840480"/>
          </a:xfrm>
          <a:prstGeom prst="roundRect">
            <a:avLst>
              <a:gd name="adj" fmla="val 3740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39056" y="2331720"/>
            <a:ext cx="291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UNLOCKED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39056" y="2606040"/>
            <a:ext cx="2910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+$240–720K ARR / yr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639056" y="3337560"/>
            <a:ext cx="2910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$24M example pipeline, 20% close rate. Conservative → optimistic.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39056" y="3913632"/>
            <a:ext cx="291084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85360" y="4041648"/>
            <a:ext cx="2618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85360" y="4279392"/>
            <a:ext cx="261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$24M × 5–15% × 20%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785360" y="4754880"/>
            <a:ext cx="2618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× est. conversion lift (5% conservative / 15% optimistic — see speed curve, slide 3) × close rate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34528" y="2148840"/>
            <a:ext cx="3422904" cy="3840480"/>
          </a:xfrm>
          <a:prstGeom prst="roundRect">
            <a:avLst>
              <a:gd name="adj" fmla="val 3740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90560" y="2331720"/>
            <a:ext cx="291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GAINED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90560" y="2606040"/>
            <a:ext cx="2910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 → &lt;1 min</a:t>
            </a:r>
            <a:endParaRPr lang="en-US" sz="19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hrs → &lt;5 min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290560" y="3337560"/>
            <a:ext cx="2910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research time and lead response time.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90560" y="3913632"/>
            <a:ext cx="2910840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36864" y="4041648"/>
            <a:ext cx="2618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436864" y="4279392"/>
            <a:ext cx="261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36864" y="4754880"/>
            <a:ext cx="26182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target, not a measured result — baselined Day 1, verified at Day 90 (see rollout plan)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91840" y="3931920"/>
            <a:ext cx="6035040" cy="603504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PAYBACK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0240" y="8351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fee is not the decision driver here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is priced per seat and AI credits, self-serve — no procurement cycle required. Real published pricing, July 2026.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5225796" cy="3931920"/>
          </a:xfrm>
          <a:prstGeom prst="roundRect">
            <a:avLst>
              <a:gd name="adj" fmla="val 2791"/>
            </a:avLst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45857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MINDPAL COSTS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051560" y="2743200"/>
            <a:ext cx="4585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(1 pod, 10-12 reps)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51560" y="2990088"/>
            <a:ext cx="45857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plan — $179/mo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51560" y="3364992"/>
            <a:ext cx="4585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editor + 20 user seats, 30K AI credits/mo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51560" y="3794760"/>
            <a:ext cx="4585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rollout (50 reps)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" y="4041648"/>
            <a:ext cx="45857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 plan — $449/mo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51560" y="4416552"/>
            <a:ext cx="4585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seats, 100K AI credits/mo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51560" y="4846320"/>
            <a:ext cx="4585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White-glove option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51560" y="5093208"/>
            <a:ext cx="45857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MindPal Managed — $2,000/mo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51560" y="5468112"/>
            <a:ext cx="45857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AI automation engineer builds it for you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1636" y="2057400"/>
            <a:ext cx="5225796" cy="3931920"/>
          </a:xfrm>
          <a:prstGeom prst="roundRect">
            <a:avLst>
              <a:gd name="adj" fmla="val 2791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51676" y="2286000"/>
            <a:ext cx="45857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3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MODELED TO CREATE (SEE FORMULAS, SLIDE 9)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51676" y="2651760"/>
            <a:ext cx="45857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+$240–720K ARR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551676" y="3246120"/>
            <a:ext cx="45857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revenue for a 50-rep org — plus ~$700K/yr of selling capacity redeployed (separate mechanism, not added — see slide 9)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51676" y="3840480"/>
            <a:ext cx="4585716" cy="0"/>
          </a:xfrm>
          <a:prstGeom prst="line">
            <a:avLst/>
          </a:prstGeom>
          <a:noFill/>
          <a:ln w="12700">
            <a:solidFill>
              <a:srgbClr val="C7C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51676" y="4023360"/>
            <a:ext cx="458571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plan ($449/mo = $5,388/yr) is ~2% of even the conservative case. But the licence isn't the real cost — RevOps time and rep adoption are. Budget for those.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3108960"/>
            <a:ext cx="5852160" cy="585216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0891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do the work. A human always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the send button.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300" dirty="0"/>
          </a:p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14600" y="2834640"/>
            <a:ext cx="438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953512" y="283464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53512" y="28346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</a:t>
            </a:r>
            <a:endParaRPr lang="en-US" sz="1300" dirty="0"/>
          </a:p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36592" y="2834640"/>
            <a:ext cx="438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75504" y="283464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75504" y="28346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300" dirty="0"/>
          </a:p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Node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58584" y="2834640"/>
            <a:ext cx="438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97496" y="283464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97496" y="28346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/</a:t>
            </a:r>
            <a:endParaRPr lang="en-US" sz="1300" dirty="0"/>
          </a:p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Agent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80576" y="2834640"/>
            <a:ext cx="438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619488" y="283464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19488" y="28346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300" dirty="0"/>
          </a:p>
          <a:p>
            <a:pPr marL="0" indent="0" algn="ctr">
              <a:lnSpc>
                <a:spcPts val="15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6177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 can include a Human Input Node at the step that matters most to you — first outbound message, quote value above a threshold, or contract terms. Agents draft and route; your reps stay the final decision-maker on anything that reaches a prospect.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3949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your CRM and inbox via Composio (100+ apps incl. HubSpot) and MCP (Beta, via Zapier/Make/Composio servers) — no migration required.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2926080" y="-3474720"/>
            <a:ext cx="5669280" cy="566928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MINDPAL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just use what you already have?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alternatives your team will raise in this meeting — and where each one stops.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502920" cy="50292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30" dirty="0"/>
          </a:p>
        </p:txBody>
      </p:sp>
      <p:sp>
        <p:nvSpPr>
          <p:cNvPr id="11" name="Text 9"/>
          <p:cNvSpPr/>
          <p:nvPr/>
        </p:nvSpPr>
        <p:spPr>
          <a:xfrm>
            <a:off x="1417320" y="2651760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Your CRM's built-in AI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3044952"/>
            <a:ext cx="44942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and Breeze are strong inside their own walls — but they assume one vendor's data model and sales motion, and typically arrive as an enterprise add-on with a procurement cycle attached. MindPal sits on top of the stack you already run.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7356" y="2697480"/>
            <a:ext cx="502920" cy="50292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7356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6963156" y="2651760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Point tools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63156" y="3044952"/>
            <a:ext cx="44942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tools, sequencers and AI SDRs each nail one step well. None of them own the handoff between steps — that glue stays manual. MindPal orchestrates the whole chain, with a human gate wherever you choose to put one.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1417320" y="4389120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Building it in-house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782312"/>
            <a:ext cx="44942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RevOps team configures this in days, no code. The same orchestration on raw frameworks means engineering headcount up front — and permanent maintenance you own forever.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77356" y="4434840"/>
            <a:ext cx="502920" cy="50292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77356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6963156" y="4389120"/>
            <a:ext cx="44942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real question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63156" y="4782312"/>
            <a:ext cx="44942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"can AI do this?" — every option says yes. It's who runs all three use cases end-to-end, on the stack you already own, with a human on the send button — provable in 90 days for $179/mo.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120640" cy="512064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pilot to full deployment in one quarter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3422904" cy="502920"/>
          </a:xfrm>
          <a:prstGeom prst="roundRect">
            <a:avLst>
              <a:gd name="adj" fmla="val 14545"/>
            </a:avLst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422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1-30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3422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Setup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9808" y="304495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" y="292608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Advanced plan ($179/mo) for 1 pod (10-12 reps)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363931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87552" y="352044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CRM and inbox via Composio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" y="423367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7552" y="411480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Research + Qualification agents on your ICP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" y="482803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7552" y="470916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current response time &amp; research time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3024" y="1920240"/>
            <a:ext cx="3422904" cy="502920"/>
          </a:xfrm>
          <a:prstGeom prst="roundRect">
            <a:avLst>
              <a:gd name="adj" fmla="val 14545"/>
            </a:avLst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3024" y="1920240"/>
            <a:ext cx="3422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31-60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3024" y="2514600"/>
            <a:ext cx="3422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Pilot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401312" y="304495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39056" y="292608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Speed-to-Lead agent with a Human Input Node for review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01312" y="363931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39056" y="352044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tuning with RevOps on scoring &amp; templates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01312" y="423367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39056" y="411480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response time, SQL volume, hours reclaimed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34528" y="1920240"/>
            <a:ext cx="3422904" cy="502920"/>
          </a:xfrm>
          <a:prstGeom prst="roundRect">
            <a:avLst>
              <a:gd name="adj" fmla="val 14545"/>
            </a:avLst>
          </a:prstGeom>
          <a:solidFill>
            <a:srgbClr val="1919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34528" y="1920240"/>
            <a:ext cx="3422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61-90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34528" y="2514600"/>
            <a:ext cx="3422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&amp; Decide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052816" y="304495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90560" y="292608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Desk / Proposal agent added for pod's AEs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52816" y="363931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90560" y="352044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ROI readout vs. baseline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52816" y="4233672"/>
            <a:ext cx="82296" cy="82296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90560" y="411480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to upgrade to Ultra plan ($449/mo) and scale to all 50 reps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-3474720"/>
            <a:ext cx="5669280" cy="566928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pod. 90 days. A decision you can make today.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84708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1847088"/>
            <a:ext cx="7616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pilot on MindPal's Advanced plan — $179/month, self-serve signup, no procurement cycle. Upgrade to Ultra ($449/mo) only once the pilot proves out.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770632"/>
            <a:ext cx="457200" cy="45720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2743200"/>
            <a:ext cx="7616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pod of 10-12 reps, a pod manager as sponsor, and ~3 hrs/week from RevOps to configure agents and connect tools via Composio.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666744"/>
            <a:ext cx="457200" cy="45720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666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639312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3639312"/>
            <a:ext cx="7616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credentials to connect CRM and inbox via Composio (OAuth) for the pilot pod — no IT migration required.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562856"/>
            <a:ext cx="457200" cy="45720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562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53542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bar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4535424"/>
            <a:ext cx="7616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upfront: &lt;5 min lead response, +20% SQL volume, 10+ hrs/week/rep reclaimed — measured at Day 90.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5532120"/>
            <a:ext cx="10725912" cy="502920"/>
          </a:xfrm>
          <a:prstGeom prst="roundRect">
            <a:avLst>
              <a:gd name="adj" fmla="val 18182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05840" y="5532120"/>
            <a:ext cx="10177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$179/month, this pilot costs less than a single team lunch — if we don't hit the numbers by Day 90, we simply don't renew.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120640" cy="512064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elevator pitch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10725912" cy="3108960"/>
          </a:xfrm>
          <a:prstGeom prst="roundRect">
            <a:avLst>
              <a:gd name="adj" fmla="val 4118"/>
            </a:avLst>
          </a:prstGeom>
          <a:solidFill>
            <a:srgbClr val="EDE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999439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SDRs spend 60% of their time on non-selling work — nearly a third of it just researching who to contact — while the average inbound lead waits 29 hours for a response, if one ever comes at all. On MindPal, your team builds a coordinated set of AI agents — with a Human Input Node holding every outbound message for review — that cuts research time by over 90%, drops response time under 5 minutes, and is modeled to redeploy roughly $700K a year of selling capacity in a 50-rep org. At $179–449 a month self-serve with no procurement cycle, this isn't a budget decision — it's a 90-day pilot with one pod to prove the numbers, so let's put one pod on it.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5257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2F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put one pod on it.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2926080" y="-3474720"/>
            <a:ext cx="5669280" cy="5669280"/>
          </a:xfrm>
          <a:prstGeom prst="ellipse">
            <a:avLst/>
          </a:prstGeom>
          <a:ln w="15875">
            <a:solidFill>
              <a:srgbClr val="2F2F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9AA0A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274552" y="6199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199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FOR REVENUE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2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87552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whole build surface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 — MindPal's actual workflow canvas. Everything described on the previous slide is built here, by your team, without engineering.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502920" cy="50292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26679" y="2395728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dragging — or by asking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26679" y="2706624"/>
            <a:ext cx="3730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Mindie was told “add a review step before delivery.” It inserted a Quality Check node between Write Draft and Deliver Output, using an Evaluator-Optimizer pattern.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7356" y="2697480"/>
            <a:ext cx="502920" cy="50292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26679" y="3657600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branching, not a linear script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26679" y="3968496"/>
            <a:ext cx="3730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Task splits Research and Analyze Data to run in parallel, then rejoins them for the draft — the same shape as your actual sales process.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434840"/>
            <a:ext cx="502920" cy="50292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26679" y="4919472"/>
            <a:ext cx="3730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RevOps owns this surface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26679" y="5230368"/>
            <a:ext cx="37307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code, no ticket, no deploy. The same canvas holds the Human Input Node that gates every message before it reaches a prospect.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77356" y="4434840"/>
            <a:ext cx="502920" cy="502920"/>
          </a:xfrm>
          <a:prstGeom prst="ellipse">
            <a:avLst/>
          </a:prstGeom>
          <a:solidFill>
            <a:srgbClr val="2F2F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Picture 21" descr="mindpal-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6675120" cy="37121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1924</Words>
  <Application>Microsoft Office PowerPoint</Application>
  <PresentationFormat>Widescreen</PresentationFormat>
  <Paragraphs>243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Giang Thành Công</cp:lastModifiedBy>
  <cp:revision>2</cp:revision>
  <dcterms:created xsi:type="dcterms:W3CDTF">2026-07-17T08:30:40Z</dcterms:created>
  <dcterms:modified xsi:type="dcterms:W3CDTF">2026-07-17T08:36:21Z</dcterms:modified>
</cp:coreProperties>
</file>